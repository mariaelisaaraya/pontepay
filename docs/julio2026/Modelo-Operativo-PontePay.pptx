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8EC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Modelo Operativo PontePay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E6F4ED"/>
                </a:solidFill>
                <a:latin typeface="Verdana"/>
              </a:rPr>
              <a:t>De dólar digital a pesos, sin intermediarios — el contrato es el que custodia.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EC8A8"/>
                </a:solidFill>
                <a:latin typeface="Verdana"/>
              </a:rPr>
              <a:t>Julio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EC8A8"/>
                </a:solidFill>
                <a:latin typeface="Verdana"/>
              </a:rPr>
              <a:t>pontepay.vercel.app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EC8A8"/>
                </a:solidFill>
                <a:latin typeface="Verdana"/>
              </a:rPr>
              <a:t>Eli · Leo · Barb  —  construido sobre Stellar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Modelo Operativo PontePay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¿Qué es PontePay y para qué sirve?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73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Overview   ·  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155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Verdana"/>
              </a:rPr>
              <a:t>PontePay es un mercado P2P no-custodial para cambiar USDC (dólar digital en Stellar) por pesos argentinos.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Verdana"/>
              </a:rPr>
              <a:t>Las personas operan entre sí; el USDC queda bloqueado en un contrato inteligente (escrow) que solo lo libera cuando ambas partes confirman. La pata en pesos viaja por Transferencias 3.0 del BCRA — una transferencia bancaria común, de banco a banco.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91840"/>
            <a:ext cx="2697480" cy="2377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474720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Sin custodia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023360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Tu plata nunca está en una empresa. No hay caja fuerte que hackear.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291840"/>
            <a:ext cx="2697480" cy="2377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3474720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Tasa del oráculo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4023360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La referencia ARS/USD la lee nuestro contrato de Reflector, on-chain. Nadie la infla.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91840"/>
            <a:ext cx="2697480" cy="2377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474720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Entrada simple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023360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Ingresás con tu email. Sin seed phrases, sin jerga cripto.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291840"/>
            <a:ext cx="2697480" cy="2377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3474720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Todo verificable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4023360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Cada trade deja un hash público en stellar.expert.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Modelo Operativo PontePay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¿Somos una tarjeta de crédito o un modelo de pagos P2P?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73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Definición   ·  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Verdana"/>
              </a:rPr>
              <a:t>Somos un modelo de pagos P2P. La comparación con el modelo tarjeta (ank) lo muestra pieza por pieza: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5486400" cy="566928"/>
          </a:xfrm>
          <a:prstGeom prst="rect">
            <a:avLst/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057400"/>
            <a:ext cx="5577840" cy="566928"/>
          </a:xfrm>
          <a:prstGeom prst="rect">
            <a:avLst/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5212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Verdana"/>
              </a:rPr>
              <a:t>Modelo tarjeta (ank)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57400"/>
            <a:ext cx="5303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Verdana"/>
              </a:rPr>
              <a:t>PontePay (P2P)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24328"/>
            <a:ext cx="548640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624328"/>
            <a:ext cx="557784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24328"/>
            <a:ext cx="5212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Emisor + Adquirente + Marca (MC/Visa)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24328"/>
            <a:ext cx="5303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El contrato escrow reemplaza a los tres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91256"/>
            <a:ext cx="5486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3191256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91256"/>
            <a:ext cx="5212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Core bancario (Mambu) lleva las cuentas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91256"/>
            <a:ext cx="5303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La blockchain es el libro — público y verificable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58184"/>
            <a:ext cx="548640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758184"/>
            <a:ext cx="557784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58184"/>
            <a:ext cx="5212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Clearing por lotes: 48 hs a 18 días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58184"/>
            <a:ext cx="5303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Liquidación atómica on-chain: ~5 segundos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25112"/>
            <a:ext cx="5486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4325112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25112"/>
            <a:ext cx="5212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Interchange + MDR negociados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25112"/>
            <a:ext cx="5303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Fee escalonado 2,5% → 0,8%, escrito en el código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92040"/>
            <a:ext cx="548640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4892040"/>
            <a:ext cx="557784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5212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Contracargos vía reglas Mastercard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892040"/>
            <a:ext cx="5303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Disputas on-chain + timeouts automáticos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458968"/>
            <a:ext cx="5486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5458968"/>
            <a:ext cx="5577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58968"/>
            <a:ext cx="5212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ank custodia y asume riesgo crediticio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458968"/>
            <a:ext cx="5303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Nadie custodia; no existe riesgo crediticio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117336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Verdana"/>
              </a:rPr>
              <a:t>Una tarjeta PontePay puede existir a futuro como capa de gasto (proveedores SCF ya emiten tarjetas sobre Stellar) — sería una salida más, no un cambio de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Modelo Operativo PontePay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Actores del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73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Modelo Operativo   · 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Vendedor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Freelancer que cobra en USDC. Publica la orden; su USDC queda bloqueado en el contrato.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Comprador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Ahorrista que quiere USDC. Toma la orden y paga pesos por Transferencias 3.0.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64592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Verdana"/>
              </a:rPr>
              <a:t>Contrato escrow (Soroban)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Verdana"/>
              </a:rPr>
              <a:t>El árbitro. Custodia temporal, libera o devuelve por reglas, cobra el fee. 28/28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Oráculo Reflector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La tasa de referencia ARS/USD, leída on-chain por el propio contrato.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3192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0690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Dispute resolver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61772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Arbitra si hay conflicto (multisig antes de mainnet). Los timeouts resuelven abandono.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393192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0690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Plataforma (nosotros)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61772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UX + backend espejo (historial, reputación, avisos). NUNCA custodia fondos.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La "autorización + clearing + liquidación" de PontePay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Flujo operativo de un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73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Modelo Operativo   · 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FLUJO ON-CHAIN (Stellar)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45F06"/>
                </a:solidFill>
                <a:latin typeface="Verdana"/>
              </a:rPr>
              <a:t>FLUJO FIAT (Transferencias 3.0)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11384280" cy="214884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977640"/>
            <a:ext cx="11384280" cy="169164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92024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</a:rPr>
              <a:t>1 · Orden publicada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Verdana"/>
              </a:rPr>
              <a:t>El contrato bloquea el USDC del vendedor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92024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</a:rPr>
              <a:t>2 · Orden tomada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926080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Verdana"/>
              </a:rPr>
              <a:t>Comprador la toma (admite parciales)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400300"/>
            <a:ext cx="82296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0" y="192024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</a:rPr>
              <a:t>5 · Pago registrado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Verdana"/>
              </a:rPr>
              <a:t>submit_fiat_payment queda on-chain con hash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94960" y="2400300"/>
            <a:ext cx="82296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06840" y="192024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</a:rPr>
              <a:t>6 · Liberación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926080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Verdana"/>
              </a:rPr>
              <a:t>USDC al comprador + fee a la plataforma, ~5 seg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83880" y="2400300"/>
            <a:ext cx="82296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463040" y="448056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B45F06"/>
                </a:solidFill>
                <a:latin typeface="Verdana"/>
              </a:rPr>
              <a:t>3 · QR / alias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0352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Verdana"/>
              </a:rPr>
              <a:t>La app muestra el monto exacto en pesos (tasa: oráculo)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448056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B45F06"/>
                </a:solidFill>
                <a:latin typeface="Verdana"/>
              </a:rPr>
              <a:t>4 · Transferencia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30352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Verdana"/>
              </a:rPr>
              <a:t>El comprador paga desde su banco (T3.0)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40480" y="4864608"/>
            <a:ext cx="1097280" cy="0"/>
          </a:xfrm>
          <a:prstGeom prst="bentConnector3">
            <a:avLst/>
          </a:prstGeom>
          <a:ln w="25400">
            <a:solidFill>
              <a:srgbClr val="B45F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0" y="448056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B45F06"/>
                </a:solidFill>
                <a:latin typeface="Verdana"/>
              </a:rPr>
              <a:t>5' · Confirmación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0352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Verdana"/>
              </a:rPr>
              <a:t>El vendedor ve el aviso y confirma la recepción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4864608"/>
            <a:ext cx="1097280" cy="0"/>
          </a:xfrm>
          <a:prstGeom prst="bentConnector3">
            <a:avLst/>
          </a:prstGeom>
          <a:ln w="25400">
            <a:solidFill>
              <a:srgbClr val="B45F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Verdana"/>
              </a:rPr>
              <a:t>Excepciones: sin confirmación → timeout automático devuelve fondos · conflicto → disputa on-chain (el "contracargo", sin Mastercard).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El "interchange" de PontePay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Modelo de ingresos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73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Economics   ·  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A1A1A"/>
                </a:solidFill>
                <a:latin typeface="Verdana"/>
              </a:rPr>
              <a:t>El contrato cobra la comisión al liberar cada escrow — en la misma transacción, en USDC, sin facturación ni cobranza. El tarifario está en el código (get_fee_tiers): cualquiera puede leerlo.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4023360" cy="566928"/>
          </a:xfrm>
          <a:prstGeom prst="rect">
            <a:avLst/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377440"/>
            <a:ext cx="1737360" cy="566928"/>
          </a:xfrm>
          <a:prstGeom prst="rect">
            <a:avLst/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Verdana"/>
              </a:rPr>
              <a:t>Tamaño del trade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Verdana"/>
              </a:rPr>
              <a:t>Fee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44368"/>
            <a:ext cx="402336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944368"/>
            <a:ext cx="173736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44368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Verdana"/>
              </a:rPr>
              <a:t>Hasta 10 USDC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44368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2,5%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351129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11296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Verdana"/>
              </a:rPr>
              <a:t>10 – 50 USDC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511296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1,5%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78224"/>
            <a:ext cx="402336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078224"/>
            <a:ext cx="1737360" cy="566928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78224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Verdana"/>
              </a:rPr>
              <a:t>50 – 200 USDC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078224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1,0%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451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4645152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45152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Verdana"/>
              </a:rPr>
              <a:t>Más de 200 USDC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645152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0,8%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2377440"/>
            <a:ext cx="4983480" cy="28346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560320"/>
            <a:ext cx="4572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14A2D"/>
                </a:solidFill>
                <a:latin typeface="Verdana"/>
              </a:rPr>
              <a:t>Unit economics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  <a:latin typeface="Verdana"/>
              </a:rPr>
              <a:t>Freelancer típico: convierte USD 500–1.500/mes → nos deja USD 5–20/mes.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  <a:latin typeface="Verdana"/>
              </a:rPr>
              <a:t>1.000 usuarios activos ≈ USD 8–15k/mes, sin costo marginal.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6B7280"/>
                </a:solidFill>
                <a:latin typeface="Verdana"/>
              </a:rPr>
              <a:t>Roadmap: parte del fee vuelve como cashback al Earn (PontePay Frecuente) — retención estilo Venmo Stash, con techo mensual.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Modelo Operativo PontePay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¿Quién lo usa? El mercado ya cobra en USDC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73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Mercado   · 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Verdana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09928"/>
            <a:ext cx="3291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FFFFF"/>
                </a:solidFill>
                <a:latin typeface="Verdana"/>
              </a:rPr>
              <a:t>de los freelancers exportadores argentinos ya cobra en USDC (+22% en USDT)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14A2D"/>
                </a:solidFill>
                <a:latin typeface="Verdana"/>
              </a:rPr>
              <a:t>USD 2.500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09928"/>
            <a:ext cx="3291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1A1A"/>
                </a:solidFill>
                <a:latin typeface="Verdana"/>
              </a:rPr>
              <a:t>ingreso promedio mensual del freelancer exportador (fin 2025)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752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14A2D"/>
                </a:solidFill>
                <a:latin typeface="Verdana"/>
              </a:rPr>
              <a:t>&gt;50%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127248"/>
            <a:ext cx="3291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1A1A"/>
                </a:solidFill>
                <a:latin typeface="Verdana"/>
              </a:rPr>
              <a:t>de las compras cripto en pesos son stablecoins (Chainalysis 2025) — Argentina #2 LATAM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1737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14A2D"/>
                </a:solidFill>
                <a:latin typeface="Verdana"/>
              </a:rPr>
              <a:t>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27248"/>
            <a:ext cx="3291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A1A1A"/>
                </a:solidFill>
                <a:latin typeface="Verdana"/>
              </a:rPr>
              <a:t>de adhesión logró el canal oficial de liquidación en pesos — nadie lo quiere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Segmentos: (1) freelancer exportador — usuario principal; (2) ahorrista cripto — la contraparte natural del libro; (3) comercios — futuro, con la capa de gasto.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Verdana"/>
              </a:rPr>
              <a:t>La lectura: no hay que convencer a nadie de cobrar en dólar digital — ya lo hacen. PontePay resuelve el último kilómetro: de USDC a pesos para vivir, sin custodios ni Telegram.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Modelo Operativo PontePay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Recepción del cliente: dónde están y cómo les hablamos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73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Go-to-market   · 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4846320" cy="7772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600200"/>
            <a:ext cx="61722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4480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14A2D"/>
                </a:solidFill>
                <a:latin typeface="Verdana"/>
              </a:rPr>
              <a:t>Comunidades freelancer (Workana, grupos de Deel/Payoneer, monotributo tech)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00200"/>
            <a:ext cx="5852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Verdana"/>
              </a:rPr>
              <a:t>Responder la pregunta semanal "¿cómo pasan USDC a pesos?" con presencia genuina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68880"/>
            <a:ext cx="4846320" cy="7772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2468880"/>
            <a:ext cx="61722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4480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14A2D"/>
                </a:solidFill>
                <a:latin typeface="Verdana"/>
              </a:rPr>
              <a:t>X/Twitter cripto argentina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468880"/>
            <a:ext cx="5852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Verdana"/>
              </a:rPr>
              <a:t>Contenido sobre seguridad no-custodial (sin FUD con nombres) + demo del hash verificable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4846320" cy="7772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0" y="3337560"/>
            <a:ext cx="61722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37560"/>
            <a:ext cx="4480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14A2D"/>
                </a:solidFill>
                <a:latin typeface="Verdana"/>
              </a:rPr>
              <a:t>Comunidad Stellar Argentina · meetups 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337560"/>
            <a:ext cx="5852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Verdana"/>
              </a:rPr>
              <a:t>Ya nos conocen del hackathon — es también la red de referidos para el SCF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06240"/>
            <a:ext cx="4846320" cy="7772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0" y="4206240"/>
            <a:ext cx="61722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06240"/>
            <a:ext cx="4480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14A2D"/>
                </a:solidFill>
                <a:latin typeface="Verdana"/>
              </a:rPr>
              <a:t>Universidades y bootcamps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206240"/>
            <a:ext cx="5852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Verdana"/>
              </a:rPr>
              <a:t>Charla "cómo cobrar del exterior" — educación, no venta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74920"/>
            <a:ext cx="4846320" cy="7772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5074920"/>
            <a:ext cx="61722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4480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14A2D"/>
                </a:solidFill>
                <a:latin typeface="Verdana"/>
              </a:rPr>
              <a:t>Referidos en el producto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074920"/>
            <a:ext cx="5852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Verdana"/>
              </a:rPr>
              <a:t>Con PontePay Frecuente: invitar suma racha para ambos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Verdana"/>
              </a:rPr>
              <a:t>Regla de lenguaje: nunca decimos "wallet", "seed phrase" ni "smart contract" — decimos "ingresá con tu email" y "contrato que protege la plata". Todo orgánico: el SCF prohíbe presupuestar marketing.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El "Integration Overview" de PontePay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Arquitectura de integración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73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Integración   · 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CANALES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45920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645920"/>
            <a:ext cx="8321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App móvil/web (Next.js) — mobile-first, una sola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78608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IDENTIDAD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578608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578608"/>
            <a:ext cx="8321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Privy: email → wallet Stellar (hoy)  ·  Passkeys: clave en el teléfono (roadmap)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11296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11296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Verdana"/>
              </a:rPr>
              <a:t>ON-CHAIN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511296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3511296"/>
            <a:ext cx="8321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Contrato P2P V2 (escrow + fees)  ·  Oráculo Reflector  ·  DeFindex (Earn)  —  vía RPC Soroban / Horizon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43984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43984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FIAT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443984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443984"/>
            <a:ext cx="8321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Transferencias 3.0 (QR EMVCo / alias), banco a banco  ·  Futuro: Anclap (SEP-24) para depósito/retiro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76672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376672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BACKEND ESPEJO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5376672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5376672"/>
            <a:ext cx="8321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Indexer de eventos → historial, reputación, rachas, avisos, métricas  ·  Regla de oro: cero fondos, cero claves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8F60"/>
                </a:solidFill>
                <a:latin typeface="Verdana"/>
              </a:rPr>
              <a:t>Si el backend arde en llamas, la plata de los usuarios ni se entera: el espejo se reconstruye releyendo la cadena.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Muchas 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EC8A8"/>
                </a:solidFill>
                <a:latin typeface="Verdana"/>
              </a:rPr>
              <a:t>pontepay.vercel.app  ·  github.com/mariaelisaaraya/pontepay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EC8A8"/>
                </a:solidFill>
                <a:latin typeface="Verdana"/>
              </a:rPr>
              <a:t>Docs: INVESTIGACION-MERCADO.md · GUIA-ENTREVISTAS.md · MODELO-OPERATIVO.md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